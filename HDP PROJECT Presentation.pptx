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FDE8-4969-8E62-51345FB88E39}"/>
              </c:ext>
            </c:extLst>
          </c:dPt>
          <c:dPt>
            <c:idx val="1"/>
            <c:invertIfNegative val="0"/>
            <c:bubble3D val="0"/>
            <c:spPr>
              <a:solidFill>
                <a:srgbClr val="0F7EA6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FDE8-4969-8E62-51345FB88E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Training Data</c:v>
                </c:pt>
                <c:pt idx="1">
                  <c:v>Testing Data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FDE8-4969-8E62-51345FB88E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11896672"/>
        <c:axId val="311898632"/>
      </c:barChart>
      <c:catAx>
        <c:axId val="311896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11898632"/>
        <c:crosses val="autoZero"/>
        <c:auto val="1"/>
        <c:lblAlgn val="ctr"/>
        <c:lblOffset val="100"/>
        <c:noMultiLvlLbl val="1"/>
      </c:catAx>
      <c:valAx>
        <c:axId val="31189863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311896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36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0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39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7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0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07008"/>
            <a:ext cx="9144000" cy="822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502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HARIPUR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4747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603504"/>
            <a:ext cx="54864" cy="548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25696" y="603504"/>
            <a:ext cx="54864" cy="5486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603504"/>
            <a:ext cx="54864" cy="548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731520"/>
            <a:ext cx="2560320" cy="310896"/>
          </a:xfrm>
          <a:prstGeom prst="roundRect">
            <a:avLst>
              <a:gd name="adj" fmla="val 20588"/>
            </a:avLst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Machine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13898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155448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" y="20299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Disease Prediction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2596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3200400" cy="20117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2880360"/>
            <a:ext cx="82296" cy="8229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96128" y="2907792"/>
            <a:ext cx="3200400" cy="20117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99816"/>
            <a:ext cx="91440" cy="914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0175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017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Nawaz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374136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2918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291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F23-1206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648456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3566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(IT)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922776"/>
            <a:ext cx="91440" cy="914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3840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3840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197096"/>
            <a:ext cx="91440" cy="9144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Semester / Section</a:t>
            </a:r>
          </a:p>
        </p:txBody>
      </p:sp>
      <p:sp>
        <p:nvSpPr>
          <p:cNvPr id="38" name="Text 36"/>
          <p:cNvSpPr/>
          <p:nvPr/>
        </p:nvSpPr>
        <p:spPr>
          <a:xfrm>
            <a:off x="3108960" y="4114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0128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50" b="1" baseline="30000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15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Section  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4471416"/>
            <a:ext cx="91440" cy="914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108960" y="43891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10128" y="4389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Zainab Noor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Haripur   ·   Department of IT   · </a:t>
            </a:r>
            <a:r>
              <a:rPr lang="en-US" sz="850" dirty="0" smtClean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Academic </a:t>
            </a: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</a:t>
            </a:r>
            <a:r>
              <a:rPr lang="en-US" sz="850" dirty="0" smtClean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2023–2027</a:t>
            </a:r>
            <a:endParaRPr lang="en-US" sz="85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77324" y="20117"/>
            <a:ext cx="331868" cy="3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3716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2194560"/>
            <a:ext cx="109728" cy="365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1328" y="1645920"/>
            <a:ext cx="109728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2194560"/>
            <a:ext cx="109728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2377440"/>
            <a:ext cx="109728" cy="1828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0512" y="2560320"/>
            <a:ext cx="18288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457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E94560"/>
                </a:solidFill>
              </a:rPr>
              <a:t>❤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NumPy  •  Pandas  •  Scikit-learn  •  Logistic Regression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Is This Project?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137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one of the leading causes of death worldwide. Early detection can save lives.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137160"/>
          </a:xfrm>
          <a:prstGeom prst="rect">
            <a:avLst/>
          </a:prstGeom>
          <a:solidFill>
            <a:srgbClr val="0F7EA6"/>
          </a:solidFill>
          <a:ln w="12700">
            <a:solidFill>
              <a:srgbClr val="0F7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Machine Learning model that predicts whether a person has heart disease based on medical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743200" cy="137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Logistic Regression — a simple yet powerful algorithm — to classify patients as healthy or at-risk.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Libraries &amp; Tools We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7030A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109728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🔢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data into arrays and handles numerical operations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109728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🐼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CSV file and lets us explore the data easily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00B0F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⚙️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train/test split, Logistic Regression, and accuracy scoring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The Dataset – heart.csv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(Columns)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Patient's 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smtClean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Gender (0/1)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— Chest pain type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err="1" smtClean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restbps</a:t>
            </a:r>
            <a:r>
              <a:rPr lang="en-US" sz="1300" dirty="0" smtClean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Resting blood pressure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— Cholesterol level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— Max heart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0 = No Disease, 1 = Disease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data.head()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View first 5 rows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data.tail()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View last 5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data.shape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651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rows &amp; columns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data.info()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data types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data.isnull().sum()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566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Find missing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023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data.describe()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4023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Statistical summary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EA6"/>
          </a:solidFill>
          <a:ln w="12700">
            <a:solidFill>
              <a:srgbClr val="0F7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 </a:t>
            </a: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234440" cy="3291840"/>
          </a:xfrm>
          <a:prstGeom prst="rect">
            <a:avLst/>
          </a:prstGeom>
          <a:solidFill>
            <a:schemeClr val="accent2"/>
          </a:solidFill>
          <a:ln w="25400">
            <a:solidFill>
              <a:srgbClr val="4C72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234440" cy="109728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72768" y="2606040"/>
            <a:ext cx="16459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64792" y="1143000"/>
            <a:ext cx="1234440" cy="3291840"/>
          </a:xfrm>
          <a:prstGeom prst="rect">
            <a:avLst/>
          </a:prstGeom>
          <a:solidFill>
            <a:srgbClr val="00B0F0"/>
          </a:solidFill>
          <a:ln w="25400">
            <a:solidFill>
              <a:srgbClr val="DD84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4792" y="1143000"/>
            <a:ext cx="1234440" cy="109728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13258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10512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26517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isnull, describe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606040"/>
            <a:ext cx="16459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9544" y="1143000"/>
            <a:ext cx="1234440" cy="329184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55A8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9544" y="1143000"/>
            <a:ext cx="1234440" cy="109728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13258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✂️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55264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55264" y="26517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62272" y="2606040"/>
            <a:ext cx="16459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54296" y="1143000"/>
            <a:ext cx="1234440" cy="3291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296" y="1143000"/>
            <a:ext cx="123444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13258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700016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0016" y="26517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07024" y="2606040"/>
            <a:ext cx="16459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44184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9048" y="1143000"/>
            <a:ext cx="1234440" cy="3291840"/>
          </a:xfrm>
          <a:prstGeom prst="rect">
            <a:avLst/>
          </a:prstGeom>
          <a:solidFill>
            <a:srgbClr val="00B050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9048" y="1143000"/>
            <a:ext cx="123444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13258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44768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44768" y="26517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51776" y="2606040"/>
            <a:ext cx="16459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8936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43800" y="1143000"/>
            <a:ext cx="1234440" cy="3291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1143000"/>
            <a:ext cx="123444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13258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🔮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7589520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89520" y="26517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176272" y="3657600"/>
            <a:ext cx="411480" cy="411480"/>
          </a:xfrm>
          <a:prstGeom prst="ellipse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76272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21024" y="3657600"/>
            <a:ext cx="411480" cy="41148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21024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65776" y="3657600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65776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510528" y="3657600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955280" y="365760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09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Splitting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58368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188720"/>
            <a:ext cx="1645920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— Training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02336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(80%)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TEACH the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patterns from this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studying from textbook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X_train and Y_train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874520"/>
            <a:ext cx="402336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(20%)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TEST the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never seen this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taking the actual exam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X_test and Y_test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994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train_test_split(X, Y,  test_size=0.2,  stratify=Y,  random_state=2)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How Logistic Regression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 (S-Curve)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65760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38328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01752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56032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10312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73736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46304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28016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18872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097280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097280"/>
            <a:ext cx="36576" cy="32004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97680"/>
            <a:ext cx="36576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(medical features)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 rot="16200000">
            <a:off x="182880" y="13716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Probability (0 to 1)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2697480"/>
            <a:ext cx="36576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051560"/>
            <a:ext cx="4114800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1600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16276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patient's medical values as input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1671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21945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mathematical formula to compute a probability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7340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27614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probability &gt; 0.5 → Predicts Heart Disease (1)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3009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12080" y="332841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probability ≤ 0.5 → Predicts No Disease (0)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8679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12080" y="389534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and interpretable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Accuracy Results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972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94960" y="1097280"/>
            <a:ext cx="338328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32120" y="16276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57784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well from training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94960" y="283464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2834640"/>
            <a:ext cx="338328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2999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32120" y="33649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57784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generalizes well to new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6188"/>
            <a:ext cx="914400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Making a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44168"/>
            <a:ext cx="502920" cy="5029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154798"/>
            <a:ext cx="7680960" cy="80467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rgbClr val="4C72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Patient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2704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13 medical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age=43, </a:t>
            </a:r>
            <a:r>
              <a:rPr lang="en-US" sz="1100" dirty="0" smtClean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gender=1</a:t>
            </a: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cp=0, chol=247...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1965960"/>
            <a:ext cx="73152" cy="1371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40280"/>
            <a:ext cx="502920" cy="502920"/>
          </a:xfrm>
          <a:prstGeom prst="ellipse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2039112"/>
            <a:ext cx="7680960" cy="80467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rgbClr val="DD8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Array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np.asarray(input_data)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Turns list into numerical format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" y="2862072"/>
            <a:ext cx="73152" cy="1371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36392"/>
            <a:ext cx="502920" cy="5029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2935224"/>
            <a:ext cx="7680960" cy="80467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980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Array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3192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.reshape(1, -1)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Formats for single-patient prediction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" y="3758184"/>
            <a:ext cx="73152" cy="1371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32504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51560" y="3831336"/>
            <a:ext cx="7680960" cy="80467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877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21538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model.predict(input_reshaped)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0 or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2D0D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prediction[0] == 0  →  'No Heart Disease'   |   prediction[0] == 1  →  'Has Heart Disease'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C3F6E">
              <a:alpha val="60000"/>
            </a:srgbClr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1C3F6E">
              <a:alpha val="45000"/>
            </a:srgbClr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331720"/>
            <a:ext cx="109728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0" y="32004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EF5350"/>
                </a:solidFill>
              </a:rPr>
              <a:t>♥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375919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617</Words>
  <Application>Microsoft Office PowerPoint</Application>
  <PresentationFormat>On-screen Show (16:9)</PresentationFormat>
  <Paragraphs>174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– ML Model</dc:title>
  <dc:subject>PptxGenJS Presentation</dc:subject>
  <dc:creator>PptxGenJS</dc:creator>
  <cp:lastModifiedBy>Hassan Nawaz</cp:lastModifiedBy>
  <cp:revision>10</cp:revision>
  <dcterms:created xsi:type="dcterms:W3CDTF">2026-05-16T18:29:10Z</dcterms:created>
  <dcterms:modified xsi:type="dcterms:W3CDTF">2026-05-19T06:38:07Z</dcterms:modified>
</cp:coreProperties>
</file>